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-51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ln w="31750" cap="flat">
              <a:solidFill>
                <a:srgbClr val="0F6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E8C"/>
              </a:solidFill>
              <a:ln w="9525" cap="flat">
                <a:solidFill>
                  <a:srgbClr val="0F6E8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1.1000000000000001</c:v>
                </c:pt>
                <c:pt idx="1">
                  <c:v>1.4</c:v>
                </c:pt>
                <c:pt idx="2">
                  <c:v>1.7000000000000002</c:v>
                </c:pt>
                <c:pt idx="3">
                  <c:v>1.95</c:v>
                </c:pt>
                <c:pt idx="4">
                  <c:v>2.1</c:v>
                </c:pt>
                <c:pt idx="5">
                  <c:v>2.25</c:v>
                </c:pt>
                <c:pt idx="6">
                  <c:v>2.4</c:v>
                </c:pt>
              </c:numCache>
            </c:numRef>
          </c:val>
        </c:ser>
        <c:dLbls/>
        <c:marker val="1"/>
        <c:axId val="91334528"/>
        <c:axId val="91336064"/>
      </c:lineChart>
      <c:catAx>
        <c:axId val="9133452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91336064"/>
        <c:crosses val="autoZero"/>
        <c:auto val="1"/>
        <c:lblAlgn val="ctr"/>
        <c:lblOffset val="100"/>
        <c:noMultiLvlLbl val="1"/>
      </c:catAx>
      <c:valAx>
        <c:axId val="91336064"/>
        <c:scaling>
          <c:orientation val="minMax"/>
        </c:scaling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91334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F6E8C"/>
            </a:solidFill>
            <a:effectLst/>
          </c:spPr>
          <c:dPt>
            <c:idx val="0"/>
          </c:dPt>
          <c:dPt>
            <c:idx val="1"/>
            <c:spPr>
              <a:solidFill>
                <a:srgbClr val="5AA9C7"/>
              </a:solidFill>
              <a:effectLst/>
            </c:spPr>
          </c:dPt>
          <c:dPt>
            <c:idx val="2"/>
            <c:spPr>
              <a:solidFill>
                <a:srgbClr val="F2A93B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7293A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Sheet1!$A$2:$A$4</c:f>
              <c:strCache>
                <c:ptCount val="3"/>
                <c:pt idx="0">
                  <c:v>Competitor A</c:v>
                </c:pt>
                <c:pt idx="1">
                  <c:v>Competitor B</c:v>
                </c:pt>
                <c:pt idx="2">
                  <c:v>Competitor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22</c:v>
                </c:pt>
                <c:pt idx="2">
                  <c:v>15</c:v>
                </c:pt>
              </c:numCache>
            </c:numRef>
          </c:val>
        </c:ser>
        <c:dLbls>
          <c:showVal val="1"/>
        </c:dLbls>
        <c:gapWidth val="60"/>
        <c:axId val="77214464"/>
        <c:axId val="77216000"/>
      </c:barChart>
      <c:catAx>
        <c:axId val="7721446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77216000"/>
        <c:crosses val="autoZero"/>
        <c:auto val="1"/>
        <c:lblAlgn val="ctr"/>
        <c:lblOffset val="100"/>
        <c:noMultiLvlLbl val="1"/>
      </c:catAx>
      <c:valAx>
        <c:axId val="77216000"/>
        <c:scaling>
          <c:orientation val="minMax"/>
        </c:scaling>
        <c:delete val="1"/>
        <c:axPos val="l"/>
        <c:numFmt formatCode="General" sourceLinked="0"/>
        <c:tickLblPos val="none"/>
        <c:crossAx val="77214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6E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5AA9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icons/fl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28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</a:t>
            </a:r>
            <a:r>
              <a:rPr lang="en-US" sz="1500" b="1" kern="0" spc="2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— Startup &amp; Project Risk Analyzer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3291840" cy="0"/>
          </a:xfrm>
          <a:prstGeom prst="line">
            <a:avLst/>
          </a:prstGeom>
          <a:noFill/>
          <a:ln w="19050">
            <a:solidFill>
              <a:srgbClr val="5AA9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intake forms, database, and market-intelligence engine that every later milestone depends 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in the first two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&amp; Project Submission Forms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194767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the web forms that capture every startup or project idea a user submits — name, industry, business model, target market, budget, and description.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685800" cy="6858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9" name="Image 1" descr="/home/claude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318897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900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Competitor Analysis Modules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36499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logic that turns a raw submission into market-sizing figures (TAM/SAM/SOM) and a competitor landscape view.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2" descr="/home/claude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60629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Everything in PostgreSQL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78231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is written to a relational database so it can be reused by risk scoring, SWOT analysis, and reporting in later milestones.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Start Here?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startups and student projects don't fail from a bad idea — they fail from risks nobody measured early enough.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exists to capture clean, structured project data and real market context — the raw material every later risk and SWOT calculation relies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1B355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7" name="Image 0" descr="/home/claude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404164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captured here is reused directly by risk scoring and SWOT generation in Milestone 2.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DRIVERS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9601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118872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2" name="Image 1" descr="/home/claude/icons/targ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011" y="13224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12527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market fit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83680" y="2221992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2450592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6" name="Image 2" descr="/home/claude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011" y="2584323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3524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competition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583680" y="3483864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712464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0" name="Image 3" descr="/home/claude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011" y="3846195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3776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limitations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583680" y="4745736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974336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4" name="Image 4" descr="/home/claude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011" y="5108067"/>
            <a:ext cx="326898" cy="32689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35240" y="50383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planning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Project Information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form is the single entry point for all downstream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6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110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Project Name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216712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identifier used across every later report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31636" y="160020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32804" y="1801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11" name="Image 1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9110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8876" y="178308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Sector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08876" y="216712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Drop-down categorisation used to benchmark against comparable ventures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218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16" name="Image 2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3284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0040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58444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SaaS, marketplace, hardware — shapes which risk factors apply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31636" y="301752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32804" y="32186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21" name="Image 3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33284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8876" y="320040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08876" y="358444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product is built for; feeds market-sizing calculations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636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26" name="Image 4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7457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6177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(USD)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500176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capital, used later in financial risk scoring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31636" y="4434840"/>
            <a:ext cx="5408676" cy="1188720"/>
          </a:xfrm>
          <a:prstGeom prst="roundRect">
            <a:avLst>
              <a:gd name="adj" fmla="val 5385"/>
            </a:avLst>
          </a:prstGeom>
          <a:solidFill>
            <a:srgbClr val="EFF5F8"/>
          </a:solidFill>
          <a:ln/>
        </p:spPr>
      </p:sp>
      <p:sp>
        <p:nvSpPr>
          <p:cNvPr id="30" name="Shape 23"/>
          <p:cNvSpPr/>
          <p:nvPr/>
        </p:nvSpPr>
        <p:spPr>
          <a:xfrm>
            <a:off x="6432804" y="4636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pic>
        <p:nvPicPr>
          <p:cNvPr id="31" name="Image 5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474573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08876" y="461772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08876" y="5001768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describing the idea, parsed for context by the AI engine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proven stack chosen for fast iteration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1220724" y="214884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icons/cod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034" y="23431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089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5204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serving the app and routing form submissions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82880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F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3506724" y="214884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1" name="Image 1" descr="/home/claude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034" y="23431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1089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 Templates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99232" y="35204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 (base, dashboard, project) rendering the UI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0" y="182880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F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792724" y="214884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6" name="Image 2" descr="/home/claud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34" y="23431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31089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85232" y="35204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driver connecting Flask to the database layer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06640" y="182880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F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8724" y="214884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3" descr="/home/claude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034" y="23431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31089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71232" y="35204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shapes market data before it reaches the dashboard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92640" y="182880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0F6E8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64724" y="21488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database_0F6E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9034" y="234315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02368" y="31089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857232" y="35204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persisting every project record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user's submission to a live dashboard, in four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3550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Startup/project details entered in the web form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63824" y="3291840"/>
            <a:ext cx="384048" cy="32004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14884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3550"/>
          </a:solidFill>
          <a:ln/>
        </p:spPr>
      </p:sp>
      <p:sp>
        <p:nvSpPr>
          <p:cNvPr id="12" name="Shape 9"/>
          <p:cNvSpPr/>
          <p:nvPr/>
        </p:nvSpPr>
        <p:spPr>
          <a:xfrm>
            <a:off x="4411980" y="246888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746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4904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Processes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794760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and routes the submission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9904" y="3291840"/>
            <a:ext cx="384048" cy="32004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214884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355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38060" y="246888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0" name="Image 2" descr="/home/claude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6746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7512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720840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written to the projects table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15984" y="3291840"/>
            <a:ext cx="384048" cy="32004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9464040" y="214884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1B3550"/>
          </a:solidFill>
          <a:ln/>
        </p:spPr>
      </p:sp>
      <p:sp>
        <p:nvSpPr>
          <p:cNvPr id="26" name="Shape 21"/>
          <p:cNvSpPr/>
          <p:nvPr/>
        </p:nvSpPr>
        <p:spPr>
          <a:xfrm>
            <a:off x="10264140" y="246888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7" name="Image 3" descr="/home/claude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267462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3842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60120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646920" y="38404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competitor view refreshes live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Projects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PostgreSQL table this milestone writes to and reads from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548640" y="1600200"/>
          <a:ext cx="11064240" cy="4279392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43600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(PK)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identifier, auto-incremented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startup or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/ industry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business_model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SaaS, marketplace,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Intended customer 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NUMERIC(15,2)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project budget in 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description used by the AI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Auto-set submission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Market Intelligence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the opportunity: Total, Serviceable, and Obtainable market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691640"/>
          </a:xfrm>
          <a:prstGeom prst="roundRect">
            <a:avLst/>
          </a:prstGeom>
          <a:solidFill>
            <a:srgbClr val="0F6E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33672" y="1691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F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233672" y="1691640"/>
            <a:ext cx="109728" cy="1691640"/>
          </a:xfrm>
          <a:prstGeom prst="roundRect">
            <a:avLst/>
          </a:prstGeom>
          <a:solidFill>
            <a:srgbClr val="5AA9C7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56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2148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$850M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07992" y="2898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18704" y="16916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F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8704" y="1691640"/>
            <a:ext cx="109728" cy="169164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856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93024" y="2148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93024" y="2898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Trend, 2020–2026 (illustrative)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3931920"/>
          <a:ext cx="5486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400800" y="36118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12233A"/>
          </a:solidFill>
          <a:ln/>
        </p:spPr>
      </p:sp>
      <p:sp>
        <p:nvSpPr>
          <p:cNvPr id="22" name="Shape 19"/>
          <p:cNvSpPr/>
          <p:nvPr/>
        </p:nvSpPr>
        <p:spPr>
          <a:xfrm>
            <a:off x="6656832" y="384048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3" name="Image 0" descr="/home/claude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563" y="3974211"/>
            <a:ext cx="326898" cy="32689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0664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builds this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675120" y="443484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industry and target-market inputs from the submission form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market-sizing logic to estimate TAM, SAM, and SOM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 multi-year trend so users see trajectory, not just a snapshot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Competitor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the submitted idea against known market players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07111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60320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36210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3621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33672" y="16916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EFF5F8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9704" y="1947672"/>
            <a:ext cx="548640" cy="548640"/>
          </a:xfrm>
          <a:prstGeom prst="ellipse">
            <a:avLst/>
          </a:prstGeom>
          <a:solidFill>
            <a:srgbClr val="5AA9C7"/>
          </a:solidFill>
          <a:ln/>
        </p:spPr>
      </p:sp>
      <p:pic>
        <p:nvPicPr>
          <p:cNvPr id="16" name="Image 1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8" y="2071116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93792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89704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45352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489704" y="31821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245352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489704" y="36210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245352" y="3621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AA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918704" y="16916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EFF5F8"/>
          </a:solidFill>
          <a:ln/>
        </p:spPr>
      </p:sp>
      <p:sp>
        <p:nvSpPr>
          <p:cNvPr id="25" name="Shape 21"/>
          <p:cNvSpPr/>
          <p:nvPr/>
        </p:nvSpPr>
        <p:spPr>
          <a:xfrm>
            <a:off x="8174736" y="194767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2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2071116"/>
            <a:ext cx="301752" cy="30175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78824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174736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930384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174736" y="31821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930384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174736" y="36210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9930384" y="3621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Market Share</a:t>
            </a:r>
            <a:endParaRPr lang="en-US" sz="12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548640" y="4663440"/>
          <a:ext cx="110642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 3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— Evaluation &amp; Deliverables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at Week 2 is measured, and what ships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59152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7" name="Image 0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48259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128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Startup/project information is successfully collected and processed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B3550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3639312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1" name="Image 1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7627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49300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competitor analysis is generated correctly for each submission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B3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0" y="2249424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icons/flag_1223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682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21488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 submission form (Project Input tab)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3035808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B3550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182112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0" name="Image 3" descr="/home/claude/icons/flag_1223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3009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30815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`projects` table storing every record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09360" y="3968496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B3550"/>
          </a:solidFill>
          <a:ln/>
        </p:spPr>
      </p:sp>
      <p:sp>
        <p:nvSpPr>
          <p:cNvPr id="23" name="Shape 17"/>
          <p:cNvSpPr/>
          <p:nvPr/>
        </p:nvSpPr>
        <p:spPr>
          <a:xfrm>
            <a:off x="6492240" y="4114800"/>
            <a:ext cx="475488" cy="47548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4" descr="/home/claude/icons/flag_1223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23367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40142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Market Analysis &amp; Competitor Landscape panels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B4A6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Milestone 2 — Risk Assessment &amp; SWOT Analysis (Weeks 3–4)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Prediction AI  |  Milestone 1 — Data Collection &amp; Market Intelligence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Custom</PresentationFormat>
  <Paragraphs>169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2026-08-30T15:30:59Z</dcterms:created>
  <dcterms:modified xsi:type="dcterms:W3CDTF">2026-08-30T15:35:07Z</dcterms:modified>
</cp:coreProperties>
</file>