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Default Extension="xlsx" ContentType="application/vnd.openxmlformats-officedocument.spreadsheetml.sheet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-474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Max Points</c:v>
                </c:pt>
              </c:strCache>
            </c:strRef>
          </c:tx>
          <c:spPr>
            <a:solidFill>
              <a:srgbClr val="0F6E8C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1000" b="0" i="0" u="none" strike="noStrike">
                    <a:solidFill>
                      <a:srgbClr val="17293A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Market
Competition</c:v>
                </c:pt>
                <c:pt idx="1">
                  <c:v>Team
Expertise</c:v>
                </c:pt>
                <c:pt idx="2">
                  <c:v>Resource
Availability</c:v>
                </c:pt>
                <c:pt idx="3">
                  <c:v>Innovation
Level</c:v>
                </c:pt>
                <c:pt idx="4">
                  <c:v>Market
Research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15</c:v>
                </c:pt>
              </c:numCache>
            </c:numRef>
          </c:val>
        </c:ser>
        <c:dLbls>
          <c:showVal val="1"/>
        </c:dLbls>
        <c:gapWidth val="40"/>
        <c:axId val="120423936"/>
        <c:axId val="120425472"/>
      </c:barChart>
      <c:catAx>
        <c:axId val="120423936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7A8A"/>
                </a:solidFill>
                <a:latin typeface="Arial"/>
              </a:defRPr>
            </a:pPr>
            <a:endParaRPr lang="en-US"/>
          </a:p>
        </c:txPr>
        <c:crossAx val="120425472"/>
        <c:crosses val="autoZero"/>
        <c:auto val="1"/>
        <c:lblAlgn val="ctr"/>
        <c:lblOffset val="100"/>
        <c:noMultiLvlLbl val="1"/>
      </c:catAx>
      <c:valAx>
        <c:axId val="120425472"/>
        <c:scaling>
          <c:orientation val="minMax"/>
        </c:scaling>
        <c:delete val="1"/>
        <c:axPos val="l"/>
        <c:numFmt formatCode="General" sourceLinked="0"/>
        <c:tickLblPos val="none"/>
        <c:crossAx val="120423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png"/><Relationship Id="rId5" Type="http://schemas.openxmlformats.org/officeDocument/2006/relationships/image" Target="../media/image8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F6E8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5AA9C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5" name="Image 0" descr="/home/claude/icons/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880110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</a:t>
            </a:r>
            <a:r>
              <a:rPr lang="en-US" sz="1400" b="1" kern="0" spc="20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5528" y="192024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Assessment &amp;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SWOT Analysis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Prediction AI — Startup &amp; Project Risk Analyzer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3794760"/>
            <a:ext cx="3291840" cy="0"/>
          </a:xfrm>
          <a:prstGeom prst="line">
            <a:avLst/>
          </a:prstGeom>
          <a:noFill/>
          <a:ln w="19050">
            <a:solidFill>
              <a:srgbClr val="5AA9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9776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structured project data captured in Milestone 1 into a quantified risk score, an automatically generated SWOT, and a feasibility assessment — the analytical core of the platform.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489204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1B3550"/>
          </a:solidFill>
          <a:ln/>
        </p:spPr>
      </p:sp>
      <p:sp>
        <p:nvSpPr>
          <p:cNvPr id="12" name="Shape 9"/>
          <p:cNvSpPr/>
          <p:nvPr/>
        </p:nvSpPr>
        <p:spPr>
          <a:xfrm>
            <a:off x="1024128" y="5148072"/>
            <a:ext cx="502920" cy="5029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3" name="Image 1" descr="/home/claude/icons/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285" y="5261229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509320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the risk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26280" y="489204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1B3550"/>
          </a:solidFill>
          <a:ln/>
        </p:spPr>
      </p:sp>
      <p:sp>
        <p:nvSpPr>
          <p:cNvPr id="16" name="Shape 12"/>
          <p:cNvSpPr/>
          <p:nvPr/>
        </p:nvSpPr>
        <p:spPr>
          <a:xfrm>
            <a:off x="4727448" y="5148072"/>
            <a:ext cx="502920" cy="5029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7" name="Image 2" descr="/home/claude/icons/pi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605" y="5261229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94960" y="509320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229600" y="489204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1B3550"/>
          </a:solidFill>
          <a:ln/>
        </p:spPr>
      </p:sp>
      <p:sp>
        <p:nvSpPr>
          <p:cNvPr id="20" name="Shape 15"/>
          <p:cNvSpPr/>
          <p:nvPr/>
        </p:nvSpPr>
        <p:spPr>
          <a:xfrm>
            <a:off x="8430768" y="5148072"/>
            <a:ext cx="502920" cy="5029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1" name="Image 3" descr="/home/claude/icons/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3925" y="5261229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98280" y="509320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project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assessment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9224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0F6E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TECH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shifts the UI to Streamlit and adds three pure-logic Python modules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194560"/>
            <a:ext cx="960120" cy="9601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8" name="Image 0" descr="/home/claude/icons/pla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2434590"/>
            <a:ext cx="480060" cy="4800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21214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965960" y="254203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Python framework that turns a script into an interactive web app — no HTML, CSS, or JavaScript required.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675120" y="20848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st.selectbox / st.slider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903720" y="23408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5 risk inputs &amp; 4 feasibility scores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675120" y="2468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st.metric / st.progress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03720" y="2724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risk score &amp; success probability live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675120" y="28529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st.columns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90372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Lays out the SWOT quadrants side by side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PURE-LOGIC PYTHON MODULES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41605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FF5F8"/>
          </a:solidFill>
          <a:ln/>
        </p:spPr>
      </p:sp>
      <p:sp>
        <p:nvSpPr>
          <p:cNvPr id="19" name="Shape 16"/>
          <p:cNvSpPr/>
          <p:nvPr/>
        </p:nvSpPr>
        <p:spPr>
          <a:xfrm>
            <a:off x="749808" y="4361688"/>
            <a:ext cx="548640" cy="54864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0" name="Image 1" descr="/home/claude/icons/cod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498848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9808" y="502920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risk_engine.py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49808" y="534924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calculate_risk(), get_risk_status(), calculate_success_probability()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297680" y="41605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FF5F8"/>
          </a:solidFill>
          <a:ln/>
        </p:spPr>
      </p:sp>
      <p:sp>
        <p:nvSpPr>
          <p:cNvPr id="24" name="Shape 20"/>
          <p:cNvSpPr/>
          <p:nvPr/>
        </p:nvSpPr>
        <p:spPr>
          <a:xfrm>
            <a:off x="4498848" y="4361688"/>
            <a:ext cx="548640" cy="54864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5" name="Image 2" descr="/home/claude/icons/pi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4498848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498848" y="502920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swot_analysis.py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4498848" y="534924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generate_swot() — rule-based Strengths/Weaknesses/Opportunities/Threats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8046720" y="41605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FF5F8"/>
          </a:solidFill>
          <a:ln/>
        </p:spPr>
      </p:sp>
      <p:sp>
        <p:nvSpPr>
          <p:cNvPr id="29" name="Shape 24"/>
          <p:cNvSpPr/>
          <p:nvPr/>
        </p:nvSpPr>
        <p:spPr>
          <a:xfrm>
            <a:off x="8247888" y="4361688"/>
            <a:ext cx="548640" cy="54864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30" name="Image 3" descr="/home/claude/icons/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4498848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247888" y="502920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feasibility.py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8247888" y="534924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calculate_feasibility() — averages 4 slider-based scores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457200" y="649224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0F6E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SYSTEM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2 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data branches through the risk engine into three outputs, then reunites on the dashboard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905756" y="18745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B3550"/>
          </a:solidFill>
          <a:ln/>
        </p:spPr>
      </p:sp>
      <p:sp>
        <p:nvSpPr>
          <p:cNvPr id="7" name="Shape 5"/>
          <p:cNvSpPr/>
          <p:nvPr/>
        </p:nvSpPr>
        <p:spPr>
          <a:xfrm>
            <a:off x="4997196" y="1988820"/>
            <a:ext cx="274320" cy="2743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8" name="Image 0" descr="/home/claude/icons/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918" y="2050542"/>
            <a:ext cx="150876" cy="1508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44668" y="187452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Data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03036" y="2395728"/>
            <a:ext cx="182880" cy="182880"/>
          </a:xfrm>
          <a:prstGeom prst="downArrow">
            <a:avLst/>
          </a:prstGeom>
          <a:solidFill>
            <a:srgbClr val="F2A93B"/>
          </a:solidFill>
          <a:ln/>
        </p:spPr>
      </p:sp>
      <p:sp>
        <p:nvSpPr>
          <p:cNvPr id="11" name="Shape 8"/>
          <p:cNvSpPr/>
          <p:nvPr/>
        </p:nvSpPr>
        <p:spPr>
          <a:xfrm>
            <a:off x="4905756" y="2633472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0F6E8C"/>
          </a:solidFill>
          <a:ln/>
        </p:spPr>
      </p:sp>
      <p:sp>
        <p:nvSpPr>
          <p:cNvPr id="12" name="Shape 9"/>
          <p:cNvSpPr/>
          <p:nvPr/>
        </p:nvSpPr>
        <p:spPr>
          <a:xfrm>
            <a:off x="4997196" y="2747772"/>
            <a:ext cx="274320" cy="2743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3" name="Image 1" descr="/home/claude/icons/serv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918" y="2809494"/>
            <a:ext cx="150876" cy="1508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4668" y="263347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Database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03036" y="3154680"/>
            <a:ext cx="182880" cy="182880"/>
          </a:xfrm>
          <a:prstGeom prst="downArrow">
            <a:avLst/>
          </a:prstGeom>
          <a:solidFill>
            <a:srgbClr val="F2A93B"/>
          </a:solidFill>
          <a:ln/>
        </p:spPr>
      </p:sp>
      <p:sp>
        <p:nvSpPr>
          <p:cNvPr id="16" name="Shape 12"/>
          <p:cNvSpPr/>
          <p:nvPr/>
        </p:nvSpPr>
        <p:spPr>
          <a:xfrm>
            <a:off x="2482596" y="3392424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B3550"/>
          </a:solidFill>
          <a:ln/>
        </p:spPr>
      </p:sp>
      <p:sp>
        <p:nvSpPr>
          <p:cNvPr id="17" name="Shape 13"/>
          <p:cNvSpPr/>
          <p:nvPr/>
        </p:nvSpPr>
        <p:spPr>
          <a:xfrm>
            <a:off x="2574036" y="3483864"/>
            <a:ext cx="274320" cy="2743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8" name="Image 2" descr="/home/claude/icons/trend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5758" y="3545586"/>
            <a:ext cx="150876" cy="1508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921508" y="3392424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997196" y="3392424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B3550"/>
          </a:solidFill>
          <a:ln/>
        </p:spPr>
      </p:sp>
      <p:sp>
        <p:nvSpPr>
          <p:cNvPr id="21" name="Shape 16"/>
          <p:cNvSpPr/>
          <p:nvPr/>
        </p:nvSpPr>
        <p:spPr>
          <a:xfrm>
            <a:off x="5088636" y="3483864"/>
            <a:ext cx="274320" cy="2743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2" name="Image 3" descr="/home/claude/icons/us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0358" y="3545586"/>
            <a:ext cx="150876" cy="15087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36108" y="3392424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7511796" y="3392424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B3550"/>
          </a:solidFill>
          <a:ln/>
        </p:spPr>
      </p:sp>
      <p:sp>
        <p:nvSpPr>
          <p:cNvPr id="25" name="Shape 19"/>
          <p:cNvSpPr/>
          <p:nvPr/>
        </p:nvSpPr>
        <p:spPr>
          <a:xfrm>
            <a:off x="7603236" y="3483864"/>
            <a:ext cx="274320" cy="2743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6" name="Image 4" descr="/home/claude/icons/clipboar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4958" y="3545586"/>
            <a:ext cx="150876" cy="1508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950708" y="3392424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003036" y="3867912"/>
            <a:ext cx="182880" cy="164592"/>
          </a:xfrm>
          <a:prstGeom prst="downArrow">
            <a:avLst/>
          </a:prstGeom>
          <a:solidFill>
            <a:srgbClr val="F2A93B"/>
          </a:solidFill>
          <a:ln/>
        </p:spPr>
      </p:sp>
      <p:sp>
        <p:nvSpPr>
          <p:cNvPr id="29" name="Shape 22"/>
          <p:cNvSpPr/>
          <p:nvPr/>
        </p:nvSpPr>
        <p:spPr>
          <a:xfrm>
            <a:off x="4722876" y="40690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2A93B"/>
          </a:solidFill>
          <a:ln/>
        </p:spPr>
      </p:sp>
      <p:sp>
        <p:nvSpPr>
          <p:cNvPr id="30" name="Shape 23"/>
          <p:cNvSpPr/>
          <p:nvPr/>
        </p:nvSpPr>
        <p:spPr>
          <a:xfrm>
            <a:off x="4814316" y="4160520"/>
            <a:ext cx="274320" cy="2743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31" name="Image 5" descr="/home/claude/icons/shield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6038" y="4222242"/>
            <a:ext cx="150876" cy="1508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161788" y="4069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6003036" y="4544568"/>
            <a:ext cx="182880" cy="164592"/>
          </a:xfrm>
          <a:prstGeom prst="downArrow">
            <a:avLst/>
          </a:prstGeom>
          <a:solidFill>
            <a:srgbClr val="F2A93B"/>
          </a:solidFill>
          <a:ln/>
        </p:spPr>
      </p:sp>
      <p:sp>
        <p:nvSpPr>
          <p:cNvPr id="34" name="Shape 26"/>
          <p:cNvSpPr/>
          <p:nvPr/>
        </p:nvSpPr>
        <p:spPr>
          <a:xfrm>
            <a:off x="2482596" y="4745736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B3550"/>
          </a:solidFill>
          <a:ln/>
        </p:spPr>
      </p:sp>
      <p:sp>
        <p:nvSpPr>
          <p:cNvPr id="35" name="Shape 27"/>
          <p:cNvSpPr/>
          <p:nvPr/>
        </p:nvSpPr>
        <p:spPr>
          <a:xfrm>
            <a:off x="2574036" y="4837176"/>
            <a:ext cx="274320" cy="2743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36" name="Image 6" descr="/home/claude/icons/barchart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5758" y="4898898"/>
            <a:ext cx="150876" cy="15087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2921508" y="474573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4997196" y="4745736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B3550"/>
          </a:solidFill>
          <a:ln/>
        </p:spPr>
      </p:sp>
      <p:sp>
        <p:nvSpPr>
          <p:cNvPr id="39" name="Shape 30"/>
          <p:cNvSpPr/>
          <p:nvPr/>
        </p:nvSpPr>
        <p:spPr>
          <a:xfrm>
            <a:off x="5088636" y="4837176"/>
            <a:ext cx="274320" cy="2743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40" name="Image 7" descr="/home/claude/icons/pie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0358" y="4898898"/>
            <a:ext cx="150876" cy="150876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436108" y="474573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</a:t>
            </a:r>
            <a:endParaRPr lang="en-US" sz="1050" dirty="0"/>
          </a:p>
        </p:txBody>
      </p:sp>
      <p:sp>
        <p:nvSpPr>
          <p:cNvPr id="42" name="Shape 32"/>
          <p:cNvSpPr/>
          <p:nvPr/>
        </p:nvSpPr>
        <p:spPr>
          <a:xfrm>
            <a:off x="7511796" y="4745736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B3550"/>
          </a:solidFill>
          <a:ln/>
        </p:spPr>
      </p:sp>
      <p:sp>
        <p:nvSpPr>
          <p:cNvPr id="43" name="Shape 33"/>
          <p:cNvSpPr/>
          <p:nvPr/>
        </p:nvSpPr>
        <p:spPr>
          <a:xfrm>
            <a:off x="7603236" y="4837176"/>
            <a:ext cx="274320" cy="2743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44" name="Image 8" descr="/home/claude/icons/check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64958" y="4898898"/>
            <a:ext cx="150876" cy="150876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7950708" y="474573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050" dirty="0"/>
          </a:p>
        </p:txBody>
      </p:sp>
      <p:sp>
        <p:nvSpPr>
          <p:cNvPr id="46" name="Shape 35"/>
          <p:cNvSpPr/>
          <p:nvPr/>
        </p:nvSpPr>
        <p:spPr>
          <a:xfrm>
            <a:off x="6003036" y="5221224"/>
            <a:ext cx="182880" cy="164592"/>
          </a:xfrm>
          <a:prstGeom prst="downArrow">
            <a:avLst/>
          </a:prstGeom>
          <a:solidFill>
            <a:srgbClr val="F2A93B"/>
          </a:solidFill>
          <a:ln/>
        </p:spPr>
      </p:sp>
      <p:sp>
        <p:nvSpPr>
          <p:cNvPr id="47" name="Shape 36"/>
          <p:cNvSpPr/>
          <p:nvPr/>
        </p:nvSpPr>
        <p:spPr>
          <a:xfrm>
            <a:off x="4539996" y="5422392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0F6E8C"/>
          </a:solidFill>
          <a:ln/>
        </p:spPr>
      </p:sp>
      <p:sp>
        <p:nvSpPr>
          <p:cNvPr id="48" name="Shape 37"/>
          <p:cNvSpPr/>
          <p:nvPr/>
        </p:nvSpPr>
        <p:spPr>
          <a:xfrm>
            <a:off x="4631436" y="5513832"/>
            <a:ext cx="274320" cy="2743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49" name="Image 9" descr="/home/claude/icons/layout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93158" y="5575554"/>
            <a:ext cx="150876" cy="150876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4978908" y="542239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Dashboard</a:t>
            </a:r>
            <a:endParaRPr lang="en-US" sz="1050" dirty="0"/>
          </a:p>
        </p:txBody>
      </p:sp>
      <p:sp>
        <p:nvSpPr>
          <p:cNvPr id="51" name="Text 39"/>
          <p:cNvSpPr/>
          <p:nvPr/>
        </p:nvSpPr>
        <p:spPr>
          <a:xfrm>
            <a:off x="457200" y="649224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2" name="Text 4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0F6E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WORKING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Risk Assessment Works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inputs drive three live outputs on the Risk Assessment tab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383280" cy="4343400"/>
          </a:xfrm>
          <a:prstGeom prst="roundRect">
            <a:avLst>
              <a:gd name="adj" fmla="val 216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121408"/>
            <a:ext cx="502920" cy="5029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8" name="Image 0" descr="/home/claude/icons/clipbo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38" y="2247138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49808" y="2834640"/>
            <a:ext cx="2980944" cy="566928"/>
          </a:xfrm>
          <a:prstGeom prst="roundRect">
            <a:avLst>
              <a:gd name="adj" fmla="val 9677"/>
            </a:avLst>
          </a:prstGeom>
          <a:solidFill>
            <a:srgbClr val="1B3550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8346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Competition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9808" y="3511296"/>
            <a:ext cx="2980944" cy="566928"/>
          </a:xfrm>
          <a:prstGeom prst="roundRect">
            <a:avLst>
              <a:gd name="adj" fmla="val 9677"/>
            </a:avLst>
          </a:prstGeom>
          <a:solidFill>
            <a:srgbClr val="1B3550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51129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Expertise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9808" y="4187952"/>
            <a:ext cx="2980944" cy="566928"/>
          </a:xfrm>
          <a:prstGeom prst="roundRect">
            <a:avLst>
              <a:gd name="adj" fmla="val 9677"/>
            </a:avLst>
          </a:prstGeom>
          <a:solidFill>
            <a:srgbClr val="1B3550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418795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Availability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9808" y="4864608"/>
            <a:ext cx="2980944" cy="566928"/>
          </a:xfrm>
          <a:prstGeom prst="roundRect">
            <a:avLst>
              <a:gd name="adj" fmla="val 9677"/>
            </a:avLst>
          </a:prstGeom>
          <a:solidFill>
            <a:srgbClr val="1B3550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48646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Level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49808" y="5541264"/>
            <a:ext cx="2980944" cy="566928"/>
          </a:xfrm>
          <a:prstGeom prst="roundRect">
            <a:avLst>
              <a:gd name="adj" fmla="val 9677"/>
            </a:avLst>
          </a:prstGeom>
          <a:solidFill>
            <a:srgbClr val="1B3550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554126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160520" y="192024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EFF5F8"/>
          </a:solidFill>
          <a:ln/>
        </p:spPr>
      </p:sp>
      <p:sp>
        <p:nvSpPr>
          <p:cNvPr id="21" name="Shape 18"/>
          <p:cNvSpPr/>
          <p:nvPr/>
        </p:nvSpPr>
        <p:spPr>
          <a:xfrm>
            <a:off x="4343400" y="2103120"/>
            <a:ext cx="457200" cy="45720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2" name="Image 1" descr="/home/claude/icons/shiel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2217420"/>
            <a:ext cx="228600" cy="2286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93776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&amp; Status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4389120" y="26517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3000" dirty="0"/>
          </a:p>
        </p:txBody>
      </p:sp>
      <p:sp>
        <p:nvSpPr>
          <p:cNvPr id="25" name="Shape 21"/>
          <p:cNvSpPr/>
          <p:nvPr/>
        </p:nvSpPr>
        <p:spPr>
          <a:xfrm>
            <a:off x="5715000" y="2788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26" name="Text 22"/>
          <p:cNvSpPr/>
          <p:nvPr/>
        </p:nvSpPr>
        <p:spPr>
          <a:xfrm>
            <a:off x="5715000" y="2788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389120" y="32735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calculate_risk() sums weighted points across all 5 inputs, capped at 100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4160520" y="37947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EFF5F8"/>
          </a:solidFill>
          <a:ln/>
        </p:spPr>
      </p:sp>
      <p:sp>
        <p:nvSpPr>
          <p:cNvPr id="29" name="Shape 25"/>
          <p:cNvSpPr/>
          <p:nvPr/>
        </p:nvSpPr>
        <p:spPr>
          <a:xfrm>
            <a:off x="4343400" y="3977640"/>
            <a:ext cx="457200" cy="45720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30" name="Image 2" descr="/home/claude/icons/trend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700" y="4091940"/>
            <a:ext cx="228600" cy="2286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93776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Probability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4389120" y="4572000"/>
            <a:ext cx="3108960" cy="201168"/>
          </a:xfrm>
          <a:prstGeom prst="roundRect">
            <a:avLst>
              <a:gd name="adj" fmla="val 50000"/>
            </a:avLst>
          </a:prstGeom>
          <a:solidFill>
            <a:srgbClr val="DCE6EB"/>
          </a:solidFill>
          <a:ln/>
        </p:spPr>
      </p:sp>
      <p:sp>
        <p:nvSpPr>
          <p:cNvPr id="33" name="Shape 28"/>
          <p:cNvSpPr/>
          <p:nvPr/>
        </p:nvSpPr>
        <p:spPr>
          <a:xfrm>
            <a:off x="4389120" y="4572000"/>
            <a:ext cx="1088136" cy="20116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4" name="Text 29"/>
          <p:cNvSpPr/>
          <p:nvPr/>
        </p:nvSpPr>
        <p:spPr>
          <a:xfrm>
            <a:off x="4389120" y="48006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 =  100 − risk_score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4160520" y="51663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EFF5F8"/>
          </a:solidFill>
          <a:ln/>
        </p:spPr>
      </p:sp>
      <p:sp>
        <p:nvSpPr>
          <p:cNvPr id="36" name="Shape 31"/>
          <p:cNvSpPr/>
          <p:nvPr/>
        </p:nvSpPr>
        <p:spPr>
          <a:xfrm>
            <a:off x="4343400" y="5349240"/>
            <a:ext cx="457200" cy="45720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37" name="Image 3" descr="/home/claude/icons/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7700" y="5463540"/>
            <a:ext cx="228600" cy="22860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4937760" y="5394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Score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4389120" y="57881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6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2000" dirty="0"/>
          </a:p>
        </p:txBody>
      </p:sp>
      <p:sp>
        <p:nvSpPr>
          <p:cNvPr id="40" name="Text 34"/>
          <p:cNvSpPr/>
          <p:nvPr/>
        </p:nvSpPr>
        <p:spPr>
          <a:xfrm>
            <a:off x="5715000" y="5806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4 sliders: market opportunity, team, edge, resources</a:t>
            </a:r>
            <a:endParaRPr lang="en-US" sz="850" dirty="0"/>
          </a:p>
        </p:txBody>
      </p:sp>
      <p:sp>
        <p:nvSpPr>
          <p:cNvPr id="41" name="Text 35"/>
          <p:cNvSpPr/>
          <p:nvPr/>
        </p:nvSpPr>
        <p:spPr>
          <a:xfrm>
            <a:off x="7955280" y="19202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SWOT (example)</a:t>
            </a:r>
            <a:endParaRPr lang="en-US" sz="1250" dirty="0"/>
          </a:p>
        </p:txBody>
      </p:sp>
      <p:sp>
        <p:nvSpPr>
          <p:cNvPr id="42" name="Shape 36"/>
          <p:cNvSpPr/>
          <p:nvPr/>
        </p:nvSpPr>
        <p:spPr>
          <a:xfrm>
            <a:off x="7955280" y="2286000"/>
            <a:ext cx="1737360" cy="1600200"/>
          </a:xfrm>
          <a:prstGeom prst="roundRect">
            <a:avLst>
              <a:gd name="adj" fmla="val 4000"/>
            </a:avLst>
          </a:prstGeom>
          <a:solidFill>
            <a:srgbClr val="3FA76A"/>
          </a:solidFill>
          <a:ln/>
        </p:spPr>
      </p:sp>
      <p:sp>
        <p:nvSpPr>
          <p:cNvPr id="43" name="Text 37"/>
          <p:cNvSpPr/>
          <p:nvPr/>
        </p:nvSpPr>
        <p:spPr>
          <a:xfrm>
            <a:off x="8092440" y="2377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8092440" y="2724912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technical team</a:t>
            </a:r>
            <a:endParaRPr lang="en-US" sz="87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innovation potential</a:t>
            </a:r>
            <a:endParaRPr lang="en-US" sz="870" dirty="0"/>
          </a:p>
        </p:txBody>
      </p:sp>
      <p:sp>
        <p:nvSpPr>
          <p:cNvPr id="45" name="Shape 39"/>
          <p:cNvSpPr/>
          <p:nvPr/>
        </p:nvSpPr>
        <p:spPr>
          <a:xfrm>
            <a:off x="9829800" y="2286000"/>
            <a:ext cx="1737360" cy="1600200"/>
          </a:xfrm>
          <a:prstGeom prst="roundRect">
            <a:avLst>
              <a:gd name="adj" fmla="val 4000"/>
            </a:avLst>
          </a:prstGeom>
          <a:solidFill>
            <a:srgbClr val="D9534F"/>
          </a:solidFill>
          <a:ln/>
        </p:spPr>
      </p:sp>
      <p:sp>
        <p:nvSpPr>
          <p:cNvPr id="46" name="Text 40"/>
          <p:cNvSpPr/>
          <p:nvPr/>
        </p:nvSpPr>
        <p:spPr>
          <a:xfrm>
            <a:off x="9966960" y="2377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9966960" y="2724912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market research</a:t>
            </a:r>
            <a:endParaRPr lang="en-US" sz="87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resources</a:t>
            </a:r>
            <a:endParaRPr lang="en-US" sz="870" dirty="0"/>
          </a:p>
        </p:txBody>
      </p:sp>
      <p:sp>
        <p:nvSpPr>
          <p:cNvPr id="48" name="Shape 42"/>
          <p:cNvSpPr/>
          <p:nvPr/>
        </p:nvSpPr>
        <p:spPr>
          <a:xfrm>
            <a:off x="7955280" y="4023360"/>
            <a:ext cx="1737360" cy="1600200"/>
          </a:xfrm>
          <a:prstGeom prst="roundRect">
            <a:avLst>
              <a:gd name="adj" fmla="val 4000"/>
            </a:avLst>
          </a:prstGeom>
          <a:solidFill>
            <a:srgbClr val="0F6E8C"/>
          </a:solidFill>
          <a:ln/>
        </p:spPr>
      </p:sp>
      <p:sp>
        <p:nvSpPr>
          <p:cNvPr id="49" name="Text 43"/>
          <p:cNvSpPr/>
          <p:nvPr/>
        </p:nvSpPr>
        <p:spPr>
          <a:xfrm>
            <a:off x="8092440" y="4114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50" name="Text 44"/>
          <p:cNvSpPr/>
          <p:nvPr/>
        </p:nvSpPr>
        <p:spPr>
          <a:xfrm>
            <a:off x="8092440" y="4462272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for market expansion</a:t>
            </a:r>
            <a:endParaRPr lang="en-US" sz="87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opportunities</a:t>
            </a:r>
            <a:endParaRPr lang="en-US" sz="870" dirty="0"/>
          </a:p>
        </p:txBody>
      </p:sp>
      <p:sp>
        <p:nvSpPr>
          <p:cNvPr id="51" name="Shape 45"/>
          <p:cNvSpPr/>
          <p:nvPr/>
        </p:nvSpPr>
        <p:spPr>
          <a:xfrm>
            <a:off x="9829800" y="4023360"/>
            <a:ext cx="1737360" cy="1600200"/>
          </a:xfrm>
          <a:prstGeom prst="roundRect">
            <a:avLst>
              <a:gd name="adj" fmla="val 4000"/>
            </a:avLst>
          </a:prstGeom>
          <a:solidFill>
            <a:srgbClr val="F2A93B"/>
          </a:solidFill>
          <a:ln/>
        </p:spPr>
      </p:sp>
      <p:sp>
        <p:nvSpPr>
          <p:cNvPr id="52" name="Text 46"/>
          <p:cNvSpPr/>
          <p:nvPr/>
        </p:nvSpPr>
        <p:spPr>
          <a:xfrm>
            <a:off x="9966960" y="4114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100" dirty="0"/>
          </a:p>
        </p:txBody>
      </p:sp>
      <p:sp>
        <p:nvSpPr>
          <p:cNvPr id="53" name="Text 47"/>
          <p:cNvSpPr/>
          <p:nvPr/>
        </p:nvSpPr>
        <p:spPr>
          <a:xfrm>
            <a:off x="9966960" y="4462272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competitors</a:t>
            </a:r>
            <a:endParaRPr lang="en-US" sz="87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technology changes</a:t>
            </a:r>
            <a:endParaRPr lang="en-US" sz="870" dirty="0"/>
          </a:p>
        </p:txBody>
      </p:sp>
      <p:sp>
        <p:nvSpPr>
          <p:cNvPr id="54" name="Text 48"/>
          <p:cNvSpPr/>
          <p:nvPr/>
        </p:nvSpPr>
        <p:spPr>
          <a:xfrm>
            <a:off x="7955280" y="573328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on the same 5 inputs — e.g. High team expertise → Strength; Limited resources → Weakness</a:t>
            </a:r>
            <a:endParaRPr lang="en-US" sz="850" dirty="0"/>
          </a:p>
        </p:txBody>
      </p:sp>
      <p:sp>
        <p:nvSpPr>
          <p:cNvPr id="55" name="Text 49"/>
          <p:cNvSpPr/>
          <p:nvPr/>
        </p:nvSpPr>
        <p:spPr>
          <a:xfrm>
            <a:off x="457200" y="649224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6" name="Text 5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0F6E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DATABASE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Structure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populates three analysis tables, each linked back to a Milestone 1 project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B355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5AA9C7"/>
          </a:solidFill>
          <a:ln/>
        </p:spPr>
      </p:sp>
      <p:pic>
        <p:nvPicPr>
          <p:cNvPr id="8" name="Image 0" descr="/home/claude/icons/database_1223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2388870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32257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25880" y="26151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Milestone 1)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31520" y="2944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project_id →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54680" y="2560320"/>
            <a:ext cx="457200" cy="274320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3" name="Shape 10"/>
          <p:cNvSpPr/>
          <p:nvPr/>
        </p:nvSpPr>
        <p:spPr>
          <a:xfrm>
            <a:off x="3520440" y="1965960"/>
            <a:ext cx="8092440" cy="1234440"/>
          </a:xfrm>
          <a:prstGeom prst="roundRect">
            <a:avLst>
              <a:gd name="adj" fmla="val 5926"/>
            </a:avLst>
          </a:prstGeom>
          <a:solidFill>
            <a:srgbClr val="EFF5F8"/>
          </a:solidFill>
          <a:ln/>
        </p:spPr>
      </p:sp>
      <p:sp>
        <p:nvSpPr>
          <p:cNvPr id="14" name="Shape 11"/>
          <p:cNvSpPr/>
          <p:nvPr/>
        </p:nvSpPr>
        <p:spPr>
          <a:xfrm>
            <a:off x="3721608" y="2299716"/>
            <a:ext cx="566928" cy="566928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5" name="Image 1" descr="/home/claude/icons/shiel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3340" y="2441448"/>
            <a:ext cx="283464" cy="2834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34840" y="2148840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Risk_Assessments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434840" y="2532888"/>
            <a:ext cx="690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risk_id, project_id (FK), risk_category, risk_score, priority_level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520440" y="3383280"/>
            <a:ext cx="8092440" cy="1234440"/>
          </a:xfrm>
          <a:prstGeom prst="roundRect">
            <a:avLst>
              <a:gd name="adj" fmla="val 5926"/>
            </a:avLst>
          </a:prstGeom>
          <a:solidFill>
            <a:srgbClr val="EFF5F8"/>
          </a:solidFill>
          <a:ln/>
        </p:spPr>
      </p:sp>
      <p:sp>
        <p:nvSpPr>
          <p:cNvPr id="19" name="Shape 15"/>
          <p:cNvSpPr/>
          <p:nvPr/>
        </p:nvSpPr>
        <p:spPr>
          <a:xfrm>
            <a:off x="3721608" y="3717036"/>
            <a:ext cx="566928" cy="566928"/>
          </a:xfrm>
          <a:prstGeom prst="ellipse">
            <a:avLst/>
          </a:prstGeom>
          <a:solidFill>
            <a:srgbClr val="5AA9C7"/>
          </a:solidFill>
          <a:ln/>
        </p:spPr>
      </p:sp>
      <p:pic>
        <p:nvPicPr>
          <p:cNvPr id="20" name="Image 2" descr="/home/claude/icons/pi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3340" y="3858768"/>
            <a:ext cx="283464" cy="2834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434840" y="3566160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SWOT_Analysis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434840" y="3950208"/>
            <a:ext cx="690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swot_id, project_id (FK), strengths, weaknesses, opportunities, threats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520440" y="4800600"/>
            <a:ext cx="8092440" cy="1234440"/>
          </a:xfrm>
          <a:prstGeom prst="roundRect">
            <a:avLst>
              <a:gd name="adj" fmla="val 5926"/>
            </a:avLst>
          </a:prstGeom>
          <a:solidFill>
            <a:srgbClr val="EFF5F8"/>
          </a:solidFill>
          <a:ln/>
        </p:spPr>
      </p:sp>
      <p:sp>
        <p:nvSpPr>
          <p:cNvPr id="24" name="Shape 19"/>
          <p:cNvSpPr/>
          <p:nvPr/>
        </p:nvSpPr>
        <p:spPr>
          <a:xfrm>
            <a:off x="3721608" y="5134356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5" name="Image 3" descr="/home/claude/icons/trending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3340" y="5276088"/>
            <a:ext cx="283464" cy="28346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434840" y="4983480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Success_Predictions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4434840" y="5367528"/>
            <a:ext cx="690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prediction_id, project_id (FK), success_probability, overall_risk_score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649224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0F6E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MARKET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Signals → Risk Points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market conditions are quantified inside the risk scoring rubric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FF5F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167128"/>
            <a:ext cx="502920" cy="5029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8" name="Image 0" descr="/home/claude/icons/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38" y="2292858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2402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Competition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285292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3FA76A"/>
          </a:solidFill>
          <a:ln/>
        </p:spPr>
      </p:sp>
      <p:sp>
        <p:nvSpPr>
          <p:cNvPr id="12" name="Text 9"/>
          <p:cNvSpPr/>
          <p:nvPr/>
        </p:nvSpPr>
        <p:spPr>
          <a:xfrm>
            <a:off x="4343400" y="28529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pts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43400" y="321868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5" name="Text 12"/>
          <p:cNvSpPr/>
          <p:nvPr/>
        </p:nvSpPr>
        <p:spPr>
          <a:xfrm>
            <a:off x="4343400" y="3218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 pts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343400" y="35844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18" name="Text 15"/>
          <p:cNvSpPr/>
          <p:nvPr/>
        </p:nvSpPr>
        <p:spPr>
          <a:xfrm>
            <a:off x="4343400" y="3584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 pts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72200" y="1965960"/>
            <a:ext cx="5468112" cy="1965960"/>
          </a:xfrm>
          <a:prstGeom prst="roundRect">
            <a:avLst>
              <a:gd name="adj" fmla="val 3721"/>
            </a:avLst>
          </a:prstGeom>
          <a:solidFill>
            <a:srgbClr val="EFF5F8"/>
          </a:solidFill>
          <a:ln/>
        </p:spPr>
      </p:sp>
      <p:sp>
        <p:nvSpPr>
          <p:cNvPr id="20" name="Shape 17"/>
          <p:cNvSpPr/>
          <p:nvPr/>
        </p:nvSpPr>
        <p:spPr>
          <a:xfrm>
            <a:off x="6373368" y="2167128"/>
            <a:ext cx="502920" cy="5029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1" name="Image 1" descr="/home/claude/icons/search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098" y="2292858"/>
            <a:ext cx="251460" cy="2514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040880" y="2240280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 Depth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44652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10085832" y="285292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3FA76A"/>
          </a:solidFill>
          <a:ln/>
        </p:spPr>
      </p:sp>
      <p:sp>
        <p:nvSpPr>
          <p:cNvPr id="25" name="Text 21"/>
          <p:cNvSpPr/>
          <p:nvPr/>
        </p:nvSpPr>
        <p:spPr>
          <a:xfrm>
            <a:off x="10085832" y="28529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pts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44652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10085832" y="321868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28" name="Text 24"/>
          <p:cNvSpPr/>
          <p:nvPr/>
        </p:nvSpPr>
        <p:spPr>
          <a:xfrm>
            <a:off x="10085832" y="3218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 pts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446520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10085832" y="35844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31" name="Text 27"/>
          <p:cNvSpPr/>
          <p:nvPr/>
        </p:nvSpPr>
        <p:spPr>
          <a:xfrm>
            <a:off x="10085832" y="3584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 pts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54864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Risk Contribution by Factor</a:t>
            </a:r>
            <a:endParaRPr lang="en-US" sz="1200" dirty="0"/>
          </a:p>
        </p:txBody>
      </p:sp>
      <p:graphicFrame>
        <p:nvGraphicFramePr>
          <p:cNvPr id="33" name="Chart 0"/>
          <p:cNvGraphicFramePr/>
          <p:nvPr/>
        </p:nvGraphicFramePr>
        <p:xfrm>
          <a:off x="548640" y="4526280"/>
          <a:ext cx="1106424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4" name="Text 29"/>
          <p:cNvSpPr/>
          <p:nvPr/>
        </p:nvSpPr>
        <p:spPr>
          <a:xfrm>
            <a:off x="457200" y="649224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0F6E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CODE &amp; CLOSURE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Structure &amp; Closing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in Milestone 2, and where the project goes next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0B1A2C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67128"/>
            <a:ext cx="128016" cy="128016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216712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2167128"/>
            <a:ext cx="128016" cy="128016"/>
          </a:xfrm>
          <a:prstGeom prst="ellipse">
            <a:avLst/>
          </a:prstGeom>
          <a:solidFill>
            <a:srgbClr val="3FC97A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0848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milestone_2/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25146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risk_engine.py             calculate_risk()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34440" y="28437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F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get_risk_status()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34440" y="31729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F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calculate_success_probability()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35021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swot_analysis.py           generate_swot()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68680" y="38313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feasibility.py             calculate_feasibility()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8680" y="4160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app.py                     Streamlit UI — selectboxes,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234440" y="44897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F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sliders, metrics, SWOT grid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1965960"/>
            <a:ext cx="5468112" cy="4160520"/>
          </a:xfrm>
          <a:prstGeom prst="roundRect">
            <a:avLst>
              <a:gd name="adj" fmla="val 1758"/>
            </a:avLst>
          </a:prstGeom>
          <a:solidFill>
            <a:srgbClr val="0F6E8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22402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0" descr="/home/claude/icons/message_0F6E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0" y="2411730"/>
            <a:ext cx="342900" cy="3429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315200" y="2286000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7315200" y="2743200"/>
            <a:ext cx="4096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3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46520" y="3246120"/>
            <a:ext cx="4919472" cy="0"/>
          </a:xfrm>
          <a:prstGeom prst="line">
            <a:avLst/>
          </a:prstGeom>
          <a:noFill/>
          <a:ln w="12700">
            <a:solidFill>
              <a:srgbClr val="3E8F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46520" y="342900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46520" y="3749040"/>
            <a:ext cx="4919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 scores 5 weighted factors into a single 0–100 risk score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is generated automatically from the same 5 inputs, no manual writing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score averages 4 user-rated sliders into one percentage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tab built in Streamlit — live, interactive, zero front-end code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46520" y="5349240"/>
            <a:ext cx="4919472" cy="0"/>
          </a:xfrm>
          <a:prstGeom prst="line">
            <a:avLst/>
          </a:prstGeom>
          <a:noFill/>
          <a:ln w="12700">
            <a:solidFill>
              <a:srgbClr val="3E8F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6520" y="5532120"/>
            <a:ext cx="4919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7200" y="649224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565</Words>
  <Application>Microsoft Office PowerPoint</Application>
  <PresentationFormat>Custom</PresentationFormat>
  <Paragraphs>136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2026-09-08T03:56:57Z</dcterms:created>
  <dcterms:modified xsi:type="dcterms:W3CDTF">2026-09-08T14:37:12Z</dcterms:modified>
</cp:coreProperties>
</file>